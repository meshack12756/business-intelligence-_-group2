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8539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D7425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$148,000 Is Walking Out the Door Every Month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689152"/>
            <a:ext cx="7468553" cy="168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How we lose 42% of revenue before it ever reaches the bank—and exactly how to stop it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24124" y="5737979"/>
            <a:ext cx="746855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Confidential | Data as of Nov 2025 | Prepared by Grok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3156" y="572095"/>
            <a:ext cx="7940873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Revenue Black Hole: Where Our Money Vanishes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83156" y="1185148"/>
            <a:ext cx="8177689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isn't just numbers—it's customers walking away frustrated. Only 36% of every dollar becomes real revenue, with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42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$65,000 lost to cancellations alone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3156" y="1782366"/>
            <a:ext cx="8177689" cy="1365290"/>
          </a:xfrm>
          <a:prstGeom prst="roundRect">
            <a:avLst>
              <a:gd name="adj" fmla="val 15168"/>
            </a:avLst>
          </a:prstGeom>
          <a:solidFill>
            <a:srgbClr val="00002E"/>
          </a:solidFill>
          <a:ln w="15240">
            <a:solidFill>
              <a:srgbClr val="F2B4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6389" y="1935599"/>
            <a:ext cx="414099" cy="414099"/>
          </a:xfrm>
          <a:prstGeom prst="roundRect">
            <a:avLst>
              <a:gd name="adj" fmla="val 22079468"/>
            </a:avLst>
          </a:prstGeom>
          <a:solidFill>
            <a:srgbClr val="F2B4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213" y="2049423"/>
            <a:ext cx="186333" cy="1863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6389" y="2487692"/>
            <a:ext cx="162413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36389" y="2773442"/>
            <a:ext cx="7871222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$243K Potential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83156" y="3285649"/>
            <a:ext cx="8177689" cy="1365290"/>
          </a:xfrm>
          <a:prstGeom prst="roundRect">
            <a:avLst>
              <a:gd name="adj" fmla="val 15168"/>
            </a:avLst>
          </a:prstGeom>
          <a:solidFill>
            <a:srgbClr val="00002E"/>
          </a:solidFill>
          <a:ln w="15240">
            <a:solidFill>
              <a:srgbClr val="D7425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6389" y="3438882"/>
            <a:ext cx="414099" cy="414099"/>
          </a:xfrm>
          <a:prstGeom prst="roundRect">
            <a:avLst>
              <a:gd name="adj" fmla="val 22079468"/>
            </a:avLst>
          </a:prstGeom>
          <a:solidFill>
            <a:srgbClr val="D7425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213" y="3552706"/>
            <a:ext cx="186333" cy="1863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6389" y="3990975"/>
            <a:ext cx="162413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36389" y="4276725"/>
            <a:ext cx="7871222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$88K Actual Revenue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83156" y="4788932"/>
            <a:ext cx="8177689" cy="1365290"/>
          </a:xfrm>
          <a:prstGeom prst="roundRect">
            <a:avLst>
              <a:gd name="adj" fmla="val 15168"/>
            </a:avLst>
          </a:prstGeom>
          <a:solidFill>
            <a:srgbClr val="00002E"/>
          </a:solidFill>
          <a:ln w="15240">
            <a:solidFill>
              <a:srgbClr val="DD785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6389" y="4942165"/>
            <a:ext cx="414099" cy="414099"/>
          </a:xfrm>
          <a:prstGeom prst="roundRect">
            <a:avLst>
              <a:gd name="adj" fmla="val 22079468"/>
            </a:avLst>
          </a:prstGeom>
          <a:solidFill>
            <a:srgbClr val="DD785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213" y="5055989"/>
            <a:ext cx="186333" cy="18633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6389" y="5494258"/>
            <a:ext cx="162413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Pending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36389" y="5780008"/>
            <a:ext cx="7871222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$90K In Limbo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83156" y="6292215"/>
            <a:ext cx="8177689" cy="1365290"/>
          </a:xfrm>
          <a:prstGeom prst="roundRect">
            <a:avLst>
              <a:gd name="adj" fmla="val 15168"/>
            </a:avLst>
          </a:prstGeom>
          <a:solidFill>
            <a:srgbClr val="00002E"/>
          </a:solidFill>
          <a:ln w="15240">
            <a:solidFill>
              <a:srgbClr val="48A8E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6389" y="6445448"/>
            <a:ext cx="414099" cy="414099"/>
          </a:xfrm>
          <a:prstGeom prst="roundRect">
            <a:avLst>
              <a:gd name="adj" fmla="val 22079468"/>
            </a:avLst>
          </a:prstGeom>
          <a:solidFill>
            <a:srgbClr val="48A8E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0213" y="6559272"/>
            <a:ext cx="186333" cy="18633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6389" y="6997541"/>
            <a:ext cx="162413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Cancelled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36389" y="7283291"/>
            <a:ext cx="7871222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$65K Lost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5663" y="758190"/>
            <a:ext cx="7605474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Problem: Cancellations Are Accelerating</a:t>
            </a:r>
            <a:endParaRPr lang="en-US" sz="4050" dirty="0"/>
          </a:p>
        </p:txBody>
      </p:sp>
      <p:sp>
        <p:nvSpPr>
          <p:cNvPr id="6" name="Shape 2"/>
          <p:cNvSpPr/>
          <p:nvPr/>
        </p:nvSpPr>
        <p:spPr>
          <a:xfrm>
            <a:off x="6255663" y="2380893"/>
            <a:ext cx="3692843" cy="1658779"/>
          </a:xfrm>
          <a:prstGeom prst="roundRect">
            <a:avLst>
              <a:gd name="adj" fmla="val 8820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225183" y="2380893"/>
            <a:ext cx="121920" cy="1658779"/>
          </a:xfrm>
          <a:prstGeom prst="roundRect">
            <a:avLst>
              <a:gd name="adj" fmla="val 270430"/>
            </a:avLst>
          </a:prstGeom>
          <a:solidFill>
            <a:srgbClr val="F2B42D"/>
          </a:solidFill>
          <a:ln/>
        </p:spPr>
      </p:sp>
      <p:sp>
        <p:nvSpPr>
          <p:cNvPr id="8" name="Text 4"/>
          <p:cNvSpPr/>
          <p:nvPr/>
        </p:nvSpPr>
        <p:spPr>
          <a:xfrm>
            <a:off x="6597372" y="2631162"/>
            <a:ext cx="2585918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February Risk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597372" y="3086219"/>
            <a:ext cx="3100864" cy="703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$65K at risk with a 33% cancellation rate.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0168295" y="2380893"/>
            <a:ext cx="3692843" cy="1658779"/>
          </a:xfrm>
          <a:prstGeom prst="roundRect">
            <a:avLst>
              <a:gd name="adj" fmla="val 8820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137815" y="2380893"/>
            <a:ext cx="121920" cy="1658779"/>
          </a:xfrm>
          <a:prstGeom prst="roundRect">
            <a:avLst>
              <a:gd name="adj" fmla="val 270430"/>
            </a:avLst>
          </a:prstGeom>
          <a:solidFill>
            <a:srgbClr val="D7425E"/>
          </a:solidFill>
          <a:ln/>
        </p:spPr>
      </p:sp>
      <p:sp>
        <p:nvSpPr>
          <p:cNvPr id="12" name="Text 8"/>
          <p:cNvSpPr/>
          <p:nvPr/>
        </p:nvSpPr>
        <p:spPr>
          <a:xfrm>
            <a:off x="10510004" y="2631162"/>
            <a:ext cx="2585918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March Loss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0510004" y="3086219"/>
            <a:ext cx="3100864" cy="703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$33K lost at a 28% rate, despite a 10% volume increase.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255663" y="4259461"/>
            <a:ext cx="3692843" cy="1658779"/>
          </a:xfrm>
          <a:prstGeom prst="roundRect">
            <a:avLst>
              <a:gd name="adj" fmla="val 8820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D78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25183" y="4259461"/>
            <a:ext cx="121920" cy="1658779"/>
          </a:xfrm>
          <a:prstGeom prst="roundRect">
            <a:avLst>
              <a:gd name="adj" fmla="val 270430"/>
            </a:avLst>
          </a:prstGeom>
          <a:solidFill>
            <a:srgbClr val="DD785E"/>
          </a:solidFill>
          <a:ln/>
        </p:spPr>
      </p:sp>
      <p:sp>
        <p:nvSpPr>
          <p:cNvPr id="16" name="Text 12"/>
          <p:cNvSpPr/>
          <p:nvPr/>
        </p:nvSpPr>
        <p:spPr>
          <a:xfrm>
            <a:off x="6597372" y="4509730"/>
            <a:ext cx="2585918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Projected Bleed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597372" y="4964787"/>
            <a:ext cx="3100864" cy="703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unchecked, we face a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742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$200K+ annual revenue bleed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585347" y="6495098"/>
            <a:ext cx="7275790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Callout: Home Appliances show a 40% cancellation rate—our biggest leak.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255663" y="6165413"/>
            <a:ext cx="30480" cy="1305878"/>
          </a:xfrm>
          <a:prstGeom prst="rect">
            <a:avLst/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35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33529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335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3871" y="563642"/>
            <a:ext cx="7709059" cy="120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Insight: The Silent Killer Categories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6203871" y="2076688"/>
            <a:ext cx="770905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pain is not evenly distributed. Our analysis reveals specific categories are hemorrhaging revenue at alarming rates.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203871" y="2963347"/>
            <a:ext cx="3752017" cy="1864042"/>
          </a:xfrm>
          <a:prstGeom prst="roundRect">
            <a:avLst>
              <a:gd name="adj" fmla="val 2639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31637" y="3191113"/>
            <a:ext cx="2411730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Electronics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431637" y="3615571"/>
            <a:ext cx="3296483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$130K total revenue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but a vulnerable 28% cancellation rate.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0160794" y="2963347"/>
            <a:ext cx="3752136" cy="1864042"/>
          </a:xfrm>
          <a:prstGeom prst="roundRect">
            <a:avLst>
              <a:gd name="adj" fmla="val 2639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388560" y="3191113"/>
            <a:ext cx="2411730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Home Appliances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10388560" y="3615571"/>
            <a:ext cx="3296603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42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$105K total revenue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with a critical 40% cancellation rate, equating to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42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$36K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lost.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03871" y="5032296"/>
            <a:ext cx="7709059" cy="1208008"/>
          </a:xfrm>
          <a:prstGeom prst="roundRect">
            <a:avLst>
              <a:gd name="adj" fmla="val 40729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31637" y="5260062"/>
            <a:ext cx="2411730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Books &amp; Clothing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6431637" y="5684520"/>
            <a:ext cx="7253526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Lower volume, yet a significant 28-32% waste due to cancellations.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03871" y="6470928"/>
            <a:ext cx="7709059" cy="1198959"/>
          </a:xfrm>
          <a:prstGeom prst="roundRect">
            <a:avLst>
              <a:gd name="adj" fmla="val 25648"/>
            </a:avLst>
          </a:prstGeom>
          <a:solidFill>
            <a:srgbClr val="48330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777" y="6783943"/>
            <a:ext cx="256223" cy="20490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69906" y="6727031"/>
            <a:ext cx="6838117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Focusing on Home Appliances alone could recover an immediate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$14K/month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1835" y="895945"/>
            <a:ext cx="703861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Insight: Toxic Payment Combinations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111835" y="1689616"/>
            <a:ext cx="7893129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Certain payment methods, especially when paired with high-value orders, present an elevated cancellation risk.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11835" y="2730341"/>
            <a:ext cx="3857149" cy="1589961"/>
          </a:xfrm>
          <a:prstGeom prst="roundRect">
            <a:avLst>
              <a:gd name="adj" fmla="val 6901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111835" y="2707481"/>
            <a:ext cx="3857149" cy="91440"/>
          </a:xfrm>
          <a:prstGeom prst="roundRect">
            <a:avLst>
              <a:gd name="adj" fmla="val 293171"/>
            </a:avLst>
          </a:prstGeom>
          <a:solidFill>
            <a:srgbClr val="F2B42D"/>
          </a:solidFill>
          <a:ln/>
        </p:spPr>
      </p:sp>
      <p:sp>
        <p:nvSpPr>
          <p:cNvPr id="7" name="Shape 4"/>
          <p:cNvSpPr/>
          <p:nvPr/>
        </p:nvSpPr>
        <p:spPr>
          <a:xfrm>
            <a:off x="7772340" y="2462332"/>
            <a:ext cx="536138" cy="536138"/>
          </a:xfrm>
          <a:prstGeom prst="roundRect">
            <a:avLst>
              <a:gd name="adj" fmla="val 170553"/>
            </a:avLst>
          </a:prstGeom>
          <a:solidFill>
            <a:srgbClr val="F2B4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3194" y="2623185"/>
            <a:ext cx="214432" cy="2144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13408" y="3177064"/>
            <a:ext cx="210252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Gift Cards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313408" y="3546991"/>
            <a:ext cx="3454003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42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$48K revenue with a staggering 43% cancellation rate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—our highest risk factor.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147697" y="2730341"/>
            <a:ext cx="3857268" cy="1589961"/>
          </a:xfrm>
          <a:prstGeom prst="roundRect">
            <a:avLst>
              <a:gd name="adj" fmla="val 6901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10147697" y="2707481"/>
            <a:ext cx="3857268" cy="91440"/>
          </a:xfrm>
          <a:prstGeom prst="roundRect">
            <a:avLst>
              <a:gd name="adj" fmla="val 293171"/>
            </a:avLst>
          </a:prstGeom>
          <a:solidFill>
            <a:srgbClr val="D7425E"/>
          </a:solidFill>
          <a:ln/>
        </p:spPr>
      </p:sp>
      <p:sp>
        <p:nvSpPr>
          <p:cNvPr id="13" name="Shape 9"/>
          <p:cNvSpPr/>
          <p:nvPr/>
        </p:nvSpPr>
        <p:spPr>
          <a:xfrm>
            <a:off x="11808202" y="2462332"/>
            <a:ext cx="536138" cy="536138"/>
          </a:xfrm>
          <a:prstGeom prst="roundRect">
            <a:avLst>
              <a:gd name="adj" fmla="val 170553"/>
            </a:avLst>
          </a:prstGeom>
          <a:solidFill>
            <a:srgbClr val="F2B4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69055" y="2623185"/>
            <a:ext cx="214432" cy="2144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49270" y="3177064"/>
            <a:ext cx="210252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Debit Transactions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0349270" y="3546991"/>
            <a:ext cx="345412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Show a 38% cancellation rate, often linked to impulse purchases.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111835" y="4767024"/>
            <a:ext cx="7893129" cy="1304092"/>
          </a:xfrm>
          <a:prstGeom prst="roundRect">
            <a:avLst>
              <a:gd name="adj" fmla="val 8414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111835" y="4744164"/>
            <a:ext cx="7893129" cy="91440"/>
          </a:xfrm>
          <a:prstGeom prst="roundRect">
            <a:avLst>
              <a:gd name="adj" fmla="val 293171"/>
            </a:avLst>
          </a:prstGeom>
          <a:solidFill>
            <a:srgbClr val="DD785E"/>
          </a:solidFill>
          <a:ln/>
        </p:spPr>
      </p:sp>
      <p:sp>
        <p:nvSpPr>
          <p:cNvPr id="19" name="Shape 14"/>
          <p:cNvSpPr/>
          <p:nvPr/>
        </p:nvSpPr>
        <p:spPr>
          <a:xfrm>
            <a:off x="9790331" y="4499015"/>
            <a:ext cx="536138" cy="536138"/>
          </a:xfrm>
          <a:prstGeom prst="roundRect">
            <a:avLst>
              <a:gd name="adj" fmla="val 170553"/>
            </a:avLst>
          </a:prstGeom>
          <a:solidFill>
            <a:srgbClr val="F2B4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1184" y="4659868"/>
            <a:ext cx="214432" cy="2144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3408" y="5213747"/>
            <a:ext cx="210252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Credit &amp; PayPal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6313408" y="5583674"/>
            <a:ext cx="748998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Relatively safer, with cancellation rates between 27-30%.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379845" y="6540103"/>
            <a:ext cx="7625120" cy="52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High-value orders combined with Gift Card payments present a 2x cancellation risk.</a:t>
            </a:r>
            <a:endParaRPr lang="en-US" sz="1650" dirty="0"/>
          </a:p>
        </p:txBody>
      </p:sp>
      <p:sp>
        <p:nvSpPr>
          <p:cNvPr id="24" name="Shape 18"/>
          <p:cNvSpPr/>
          <p:nvPr/>
        </p:nvSpPr>
        <p:spPr>
          <a:xfrm>
            <a:off x="6111835" y="6272093"/>
            <a:ext cx="22860" cy="1061561"/>
          </a:xfrm>
          <a:prstGeom prst="rect">
            <a:avLst/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255" y="719614"/>
            <a:ext cx="7725489" cy="119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Analysis: Failing Our Top Customers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09255" y="2215634"/>
            <a:ext cx="7725489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most valuable customers are experiencing high cancellation rates, indicating a critical breakdown in their purchase journey.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09255" y="3294578"/>
            <a:ext cx="2861191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Emma Clark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09255" y="3854768"/>
            <a:ext cx="4437459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Contributes 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$21K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 completed orders, yet 35% of her orders are cancelled.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09255" y="4705826"/>
            <a:ext cx="2861191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5 Customers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09255" y="5266015"/>
            <a:ext cx="4437459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Represent 70% of our completed revenue, but 3 out of 5 have a personal loss rate exceeding 40%.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682" y="3319820"/>
            <a:ext cx="2793563" cy="202668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09255" y="6324600"/>
            <a:ext cx="7725489" cy="1185267"/>
          </a:xfrm>
          <a:prstGeom prst="roundRect">
            <a:avLst>
              <a:gd name="adj" fmla="val 25649"/>
            </a:avLst>
          </a:prstGeom>
          <a:solidFill>
            <a:srgbClr val="48330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00" y="6636663"/>
            <a:ext cx="253246" cy="2026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67790" y="6577846"/>
            <a:ext cx="6864310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represents a significant opportunity: re-engaging these VIP customers could recover an additional 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$25K in 30 days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2201" y="771763"/>
            <a:ext cx="7647503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Solution: Recover $112K in 90 Days</a:t>
            </a:r>
            <a:endParaRPr lang="en-US" sz="3650" dirty="0"/>
          </a:p>
        </p:txBody>
      </p:sp>
      <p:sp>
        <p:nvSpPr>
          <p:cNvPr id="6" name="Text 2"/>
          <p:cNvSpPr/>
          <p:nvPr/>
        </p:nvSpPr>
        <p:spPr>
          <a:xfrm>
            <a:off x="6182201" y="1654612"/>
            <a:ext cx="7752398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propose a phased approach to tackle revenue leakage, focusing on immediate impact and sustainable improvements.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201" y="2514481"/>
            <a:ext cx="994053" cy="11928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74969" y="2713196"/>
            <a:ext cx="2338983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Quick Wins (30 Days)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374969" y="3124795"/>
            <a:ext cx="655962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Verify Gift Cards and pre-authorize orders &gt;$500 to recover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$40K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201" y="3707368"/>
            <a:ext cx="994053" cy="1445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74969" y="3906083"/>
            <a:ext cx="2553057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Medium Term (60 Days)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374969" y="4317683"/>
            <a:ext cx="655962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Conduct an appliance stock audit and re-engage high-value customers to recover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$50K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201" y="5152668"/>
            <a:ext cx="994053" cy="119288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74969" y="5351383"/>
            <a:ext cx="2338983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Long Term (90 Days)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7374969" y="5762982"/>
            <a:ext cx="655962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Redesign the payment flow for a sustained recovery of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$22K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annually.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6480334" y="6867287"/>
            <a:ext cx="7061359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Total impact: $112K recovered with an estimated 5x ROI on effort.</a:t>
            </a:r>
            <a:endParaRPr lang="en-US" sz="1800" dirty="0"/>
          </a:p>
        </p:txBody>
      </p:sp>
      <p:sp>
        <p:nvSpPr>
          <p:cNvPr id="17" name="Shape 10"/>
          <p:cNvSpPr/>
          <p:nvPr/>
        </p:nvSpPr>
        <p:spPr>
          <a:xfrm>
            <a:off x="6182201" y="6569154"/>
            <a:ext cx="22860" cy="888682"/>
          </a:xfrm>
          <a:prstGeom prst="rect">
            <a:avLst/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032" y="647581"/>
            <a:ext cx="6545818" cy="69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Implementation Roadmap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24032" y="1810941"/>
            <a:ext cx="12982337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clear, actionable plan is essential for swift and effective revenue recovery.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24032" y="2452449"/>
            <a:ext cx="12982337" cy="2712720"/>
          </a:xfrm>
          <a:prstGeom prst="roundRect">
            <a:avLst>
              <a:gd name="adj" fmla="val 1302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1652" y="2460069"/>
            <a:ext cx="12967097" cy="6743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7276" y="2608898"/>
            <a:ext cx="276713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312801" y="2608898"/>
            <a:ext cx="276332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Owner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554516" y="2608898"/>
            <a:ext cx="276332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Metric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796230" y="2608898"/>
            <a:ext cx="276713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Timeline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31652" y="3134439"/>
            <a:ext cx="12967097" cy="6743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7276" y="3283268"/>
            <a:ext cx="276713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Gift Card Fix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312801" y="3283268"/>
            <a:ext cx="276332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Ops Lead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554516" y="3283268"/>
            <a:ext cx="276332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Cancel Rate &lt;20%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0796230" y="3283268"/>
            <a:ext cx="276713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 1-30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1652" y="3808809"/>
            <a:ext cx="12967097" cy="6743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7276" y="3957638"/>
            <a:ext cx="276713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 Outreach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312801" y="3957638"/>
            <a:ext cx="276332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Sales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554516" y="3957638"/>
            <a:ext cx="276332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+15% Retention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0796230" y="3957638"/>
            <a:ext cx="276713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 31-60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831652" y="4483179"/>
            <a:ext cx="12967097" cy="6743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67276" y="4632007"/>
            <a:ext cx="276713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Payment Redesign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4312801" y="4632007"/>
            <a:ext cx="276332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554516" y="4632007"/>
            <a:ext cx="276332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95% Conversion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10796230" y="4632007"/>
            <a:ext cx="276713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 61-90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824032" y="5518309"/>
            <a:ext cx="3323987" cy="41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4032" y="6286976"/>
            <a:ext cx="12982337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Analyzed 250 orders from February to April 2025.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824032" y="6746081"/>
            <a:ext cx="12982337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Statistics generated using Python/Pandas for robust data interpretation.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824032" y="7205186"/>
            <a:ext cx="12982337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assumptions based on projected 2025 data.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1769" y="645676"/>
            <a:ext cx="12986861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Beyond Recovery: Building a Resilient Revenue Stream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21769" y="2496383"/>
            <a:ext cx="12986861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actions today will not only recover lost revenue but also build a more robust and customer-centric business for tomorrow.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7860" y="3565684"/>
            <a:ext cx="276248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Gather Feedback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821769" y="4051816"/>
            <a:ext cx="3868579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 continuous feedback loops to understand pain points.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535" y="3136106"/>
            <a:ext cx="4545330" cy="454533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4826" y="3931563"/>
            <a:ext cx="351234" cy="351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40052" y="3565684"/>
            <a:ext cx="276248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Optimize Processes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9940052" y="4051816"/>
            <a:ext cx="3868579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Refine internal processes based on data and customer insights.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535" y="3136106"/>
            <a:ext cx="4545330" cy="454533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1055" y="4318397"/>
            <a:ext cx="351234" cy="3512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40052" y="6014442"/>
            <a:ext cx="2891314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Personalize Experience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9940052" y="6500574"/>
            <a:ext cx="3868579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Tailor offerings and communication for top-tier customers.</a:t>
            </a:r>
            <a:endParaRPr lang="en-US" sz="1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2535" y="3136106"/>
            <a:ext cx="4545330" cy="454533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54221" y="6534626"/>
            <a:ext cx="351234" cy="35123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27860" y="6014442"/>
            <a:ext cx="276248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Proactive Support</a:t>
            </a:r>
            <a:endParaRPr lang="en-US" sz="2150" dirty="0"/>
          </a:p>
        </p:txBody>
      </p:sp>
      <p:sp>
        <p:nvSpPr>
          <p:cNvPr id="17" name="Text 9"/>
          <p:cNvSpPr/>
          <p:nvPr/>
        </p:nvSpPr>
        <p:spPr>
          <a:xfrm>
            <a:off x="821769" y="6500574"/>
            <a:ext cx="3868579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Anticipate issues and offer solutions before they escalate.</a:t>
            </a:r>
            <a:endParaRPr lang="en-US" sz="18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2535" y="3136106"/>
            <a:ext cx="4545330" cy="454533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37992" y="6147792"/>
            <a:ext cx="351234" cy="3512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6382" y="636389"/>
            <a:ext cx="5828109" cy="68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Questions &amp; Discussion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96382" y="1664137"/>
            <a:ext cx="7524036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We've outlined the problem, the insights, and a concrete plan of action. Now, let's discuss how we can collectively drive this initiative forward.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296382" y="2896314"/>
            <a:ext cx="3267551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Your Role in Recovery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6296382" y="3536037"/>
            <a:ext cx="3479721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team members for ownership of key actions.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96382" y="4357568"/>
            <a:ext cx="3479721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 feedback on proposed solutions and potential challenges.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96382" y="5549384"/>
            <a:ext cx="3479721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Champion a data-driven approach to continuous improvement.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8317" y="2925247"/>
            <a:ext cx="3479721" cy="35010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6382" y="7001470"/>
            <a:ext cx="7524036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Thank you for your time and commitment to optimizing our revenue. Let's make every dollar count!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2025-11-24T16:39:13Z</dcterms:created>
  <dcterms:modified xsi:type="dcterms:W3CDTF">2025-11-24T16:39:13Z</dcterms:modified>
</cp:coreProperties>
</file>